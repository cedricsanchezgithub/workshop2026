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5" r:id="rId22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1E48"/>
    <a:srgbClr val="A1A6D4"/>
    <a:srgbClr val="E4E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31EFA7-7031-49C3-977B-42746F8B6103}" v="1" dt="2026-10-15T08:16:39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9" autoAdjust="0"/>
    <p:restoredTop sz="67466" autoAdjust="0"/>
  </p:normalViewPr>
  <p:slideViewPr>
    <p:cSldViewPr snapToGrid="0">
      <p:cViewPr varScale="1">
        <p:scale>
          <a:sx n="83" d="100"/>
          <a:sy n="83" d="100"/>
        </p:scale>
        <p:origin x="1392" y="2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Relationship Id="rId22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COMBLEZ" userId="767defee-383f-47d4-8442-96b55406b48b" providerId="ADAL" clId="{F2FAD57F-CD2E-4E41-A65D-3ED0BCA4AEF4}"/>
    <pc:docChg chg="undo custSel modSld">
      <pc:chgData name="Julien COMBLEZ" userId="767defee-383f-47d4-8442-96b55406b48b" providerId="ADAL" clId="{F2FAD57F-CD2E-4E41-A65D-3ED0BCA4AEF4}" dt="2026-10-13T15:01:30.441" v="207"/>
      <pc:docMkLst>
        <pc:docMk/>
      </pc:docMkLst>
      <pc:sldChg chg="modSp mod">
        <pc:chgData name="Julien COMBLEZ" userId="767defee-383f-47d4-8442-96b55406b48b" providerId="ADAL" clId="{F2FAD57F-CD2E-4E41-A65D-3ED0BCA4AEF4}" dt="2026-10-13T15:00:31.047" v="204" actId="20577"/>
        <pc:sldMkLst>
          <pc:docMk/>
          <pc:sldMk cId="2283085552" sldId="263"/>
        </pc:sldMkLst>
        <pc:spChg chg="mod">
          <ac:chgData name="Julien COMBLEZ" userId="767defee-383f-47d4-8442-96b55406b48b" providerId="ADAL" clId="{F2FAD57F-CD2E-4E41-A65D-3ED0BCA4AEF4}" dt="2026-10-13T15:00:31.047" v="204" actId="20577"/>
          <ac:spMkLst>
            <pc:docMk/>
            <pc:sldMk cId="2283085552" sldId="263"/>
            <ac:spMk id="2" creationId="{5AB00639-13DA-577A-0F1C-BE0E25805CD2}"/>
          </ac:spMkLst>
        </pc:spChg>
      </pc:sldChg>
      <pc:sldChg chg="modSp mod">
        <pc:chgData name="Julien COMBLEZ" userId="767defee-383f-47d4-8442-96b55406b48b" providerId="ADAL" clId="{F2FAD57F-CD2E-4E41-A65D-3ED0BCA4AEF4}" dt="2026-10-13T15:00:47.337" v="205" actId="20577"/>
        <pc:sldMkLst>
          <pc:docMk/>
          <pc:sldMk cId="807039865" sldId="267"/>
        </pc:sldMkLst>
        <pc:spChg chg="mod">
          <ac:chgData name="Julien COMBLEZ" userId="767defee-383f-47d4-8442-96b55406b48b" providerId="ADAL" clId="{F2FAD57F-CD2E-4E41-A65D-3ED0BCA4AEF4}" dt="2026-10-13T15:00:47.337" v="205" actId="20577"/>
          <ac:spMkLst>
            <pc:docMk/>
            <pc:sldMk cId="807039865" sldId="267"/>
            <ac:spMk id="2" creationId="{9909EBA1-F143-065F-E848-49027520FC15}"/>
          </ac:spMkLst>
        </pc:spChg>
      </pc:sldChg>
      <pc:sldChg chg="modSp mod">
        <pc:chgData name="Julien COMBLEZ" userId="767defee-383f-47d4-8442-96b55406b48b" providerId="ADAL" clId="{F2FAD57F-CD2E-4E41-A65D-3ED0BCA4AEF4}" dt="2026-10-13T15:00:18.673" v="195" actId="2711"/>
        <pc:sldMkLst>
          <pc:docMk/>
          <pc:sldMk cId="3783561545" sldId="268"/>
        </pc:sldMkLst>
        <pc:spChg chg="mod">
          <ac:chgData name="Julien COMBLEZ" userId="767defee-383f-47d4-8442-96b55406b48b" providerId="ADAL" clId="{F2FAD57F-CD2E-4E41-A65D-3ED0BCA4AEF4}" dt="2026-10-13T14:57:49.501" v="56" actId="20577"/>
          <ac:spMkLst>
            <pc:docMk/>
            <pc:sldMk cId="3783561545" sldId="268"/>
            <ac:spMk id="3" creationId="{0EB50662-5959-3462-8BCB-2C956A3BF309}"/>
          </ac:spMkLst>
        </pc:spChg>
        <pc:graphicFrameChg chg="modGraphic">
          <ac:chgData name="Julien COMBLEZ" userId="767defee-383f-47d4-8442-96b55406b48b" providerId="ADAL" clId="{F2FAD57F-CD2E-4E41-A65D-3ED0BCA4AEF4}" dt="2026-10-13T15:00:18.673" v="195" actId="2711"/>
          <ac:graphicFrameMkLst>
            <pc:docMk/>
            <pc:sldMk cId="3783561545" sldId="268"/>
            <ac:graphicFrameMk id="8" creationId="{14B5718E-5D04-9A30-64C6-33586247B1F8}"/>
          </ac:graphicFrameMkLst>
        </pc:graphicFrameChg>
        <pc:graphicFrameChg chg="mod modGraphic">
          <ac:chgData name="Julien COMBLEZ" userId="767defee-383f-47d4-8442-96b55406b48b" providerId="ADAL" clId="{F2FAD57F-CD2E-4E41-A65D-3ED0BCA4AEF4}" dt="2026-10-13T15:00:14.215" v="194" actId="2711"/>
          <ac:graphicFrameMkLst>
            <pc:docMk/>
            <pc:sldMk cId="3783561545" sldId="268"/>
            <ac:graphicFrameMk id="10" creationId="{8773ADD0-7BA7-FE25-DC7B-4DC5E6385BC6}"/>
          </ac:graphicFrameMkLst>
        </pc:graphicFrameChg>
      </pc:sldChg>
      <pc:sldChg chg="modSp">
        <pc:chgData name="Julien COMBLEZ" userId="767defee-383f-47d4-8442-96b55406b48b" providerId="ADAL" clId="{F2FAD57F-CD2E-4E41-A65D-3ED0BCA4AEF4}" dt="2026-10-13T15:01:30.441" v="207"/>
        <pc:sldMkLst>
          <pc:docMk/>
          <pc:sldMk cId="1829911416" sldId="273"/>
        </pc:sldMkLst>
        <pc:spChg chg="mod">
          <ac:chgData name="Julien COMBLEZ" userId="767defee-383f-47d4-8442-96b55406b48b" providerId="ADAL" clId="{F2FAD57F-CD2E-4E41-A65D-3ED0BCA4AEF4}" dt="2026-10-13T15:01:30.441" v="207"/>
          <ac:spMkLst>
            <pc:docMk/>
            <pc:sldMk cId="1829911416" sldId="273"/>
            <ac:spMk id="12" creationId="{813A1F49-3D22-AEAE-8F11-CB4F30603226}"/>
          </ac:spMkLst>
        </pc:spChg>
        <pc:spChg chg="mod">
          <ac:chgData name="Julien COMBLEZ" userId="767defee-383f-47d4-8442-96b55406b48b" providerId="ADAL" clId="{F2FAD57F-CD2E-4E41-A65D-3ED0BCA4AEF4}" dt="2026-10-13T15:01:26.271" v="206"/>
          <ac:spMkLst>
            <pc:docMk/>
            <pc:sldMk cId="1829911416" sldId="273"/>
            <ac:spMk id="13" creationId="{75982571-AABF-E6D2-64F4-C53DB715F3C8}"/>
          </ac:spMkLst>
        </pc:spChg>
      </pc:sldChg>
    </pc:docChg>
  </pc:docChgLst>
  <pc:docChgLst>
    <pc:chgData name="BAEZA Yvan" userId="a7b141fc-4e19-48c1-b5db-47b4212acff9" providerId="ADAL" clId="{08A425C7-81E3-4A55-8DCE-B1462E3EB5E1}"/>
    <pc:docChg chg="undo custSel modSld">
      <pc:chgData name="BAEZA Yvan" userId="a7b141fc-4e19-48c1-b5db-47b4212acff9" providerId="ADAL" clId="{08A425C7-81E3-4A55-8DCE-B1462E3EB5E1}" dt="2026-10-15T08:20:42.938" v="188" actId="20577"/>
      <pc:docMkLst>
        <pc:docMk/>
      </pc:docMkLst>
      <pc:sldChg chg="modSp mod">
        <pc:chgData name="BAEZA Yvan" userId="a7b141fc-4e19-48c1-b5db-47b4212acff9" providerId="ADAL" clId="{08A425C7-81E3-4A55-8DCE-B1462E3EB5E1}" dt="2026-10-15T07:46:30.311" v="104" actId="20577"/>
        <pc:sldMkLst>
          <pc:docMk/>
          <pc:sldMk cId="807039865" sldId="267"/>
        </pc:sldMkLst>
        <pc:spChg chg="mod">
          <ac:chgData name="BAEZA Yvan" userId="a7b141fc-4e19-48c1-b5db-47b4212acff9" providerId="ADAL" clId="{08A425C7-81E3-4A55-8DCE-B1462E3EB5E1}" dt="2026-10-15T07:46:30.311" v="104" actId="20577"/>
          <ac:spMkLst>
            <pc:docMk/>
            <pc:sldMk cId="807039865" sldId="267"/>
            <ac:spMk id="3" creationId="{A157F832-8530-1D91-78EB-DA474ADFFA47}"/>
          </ac:spMkLst>
        </pc:spChg>
      </pc:sldChg>
      <pc:sldChg chg="modSp mod">
        <pc:chgData name="BAEZA Yvan" userId="a7b141fc-4e19-48c1-b5db-47b4212acff9" providerId="ADAL" clId="{08A425C7-81E3-4A55-8DCE-B1462E3EB5E1}" dt="2026-10-15T08:05:36.501" v="109" actId="14734"/>
        <pc:sldMkLst>
          <pc:docMk/>
          <pc:sldMk cId="3783561545" sldId="268"/>
        </pc:sldMkLst>
        <pc:graphicFrameChg chg="modGraphic">
          <ac:chgData name="BAEZA Yvan" userId="a7b141fc-4e19-48c1-b5db-47b4212acff9" providerId="ADAL" clId="{08A425C7-81E3-4A55-8DCE-B1462E3EB5E1}" dt="2026-10-15T08:05:36.501" v="109" actId="14734"/>
          <ac:graphicFrameMkLst>
            <pc:docMk/>
            <pc:sldMk cId="3783561545" sldId="268"/>
            <ac:graphicFrameMk id="10" creationId="{8773ADD0-7BA7-FE25-DC7B-4DC5E6385BC6}"/>
          </ac:graphicFrameMkLst>
        </pc:graphicFrameChg>
      </pc:sldChg>
      <pc:sldChg chg="addSp modSp mod">
        <pc:chgData name="BAEZA Yvan" userId="a7b141fc-4e19-48c1-b5db-47b4212acff9" providerId="ADAL" clId="{08A425C7-81E3-4A55-8DCE-B1462E3EB5E1}" dt="2026-10-15T08:16:39.727" v="177" actId="14826"/>
        <pc:sldMkLst>
          <pc:docMk/>
          <pc:sldMk cId="3429768748" sldId="270"/>
        </pc:sldMkLst>
        <pc:spChg chg="add mod">
          <ac:chgData name="BAEZA Yvan" userId="a7b141fc-4e19-48c1-b5db-47b4212acff9" providerId="ADAL" clId="{08A425C7-81E3-4A55-8DCE-B1462E3EB5E1}" dt="2026-10-15T08:16:13.866" v="176" actId="1076"/>
          <ac:spMkLst>
            <pc:docMk/>
            <pc:sldMk cId="3429768748" sldId="270"/>
            <ac:spMk id="8" creationId="{99E988D3-4C26-C291-C617-9C6B1DC9DBA0}"/>
          </ac:spMkLst>
        </pc:spChg>
        <pc:picChg chg="add mod">
          <ac:chgData name="BAEZA Yvan" userId="a7b141fc-4e19-48c1-b5db-47b4212acff9" providerId="ADAL" clId="{08A425C7-81E3-4A55-8DCE-B1462E3EB5E1}" dt="2026-10-15T08:16:39.727" v="177" actId="14826"/>
          <ac:picMkLst>
            <pc:docMk/>
            <pc:sldMk cId="3429768748" sldId="270"/>
            <ac:picMk id="6" creationId="{DA4ED5A6-EA74-3B1E-0CB5-F875D67DE1A3}"/>
          </ac:picMkLst>
        </pc:picChg>
      </pc:sldChg>
      <pc:sldChg chg="addSp delSp modSp mod">
        <pc:chgData name="BAEZA Yvan" userId="a7b141fc-4e19-48c1-b5db-47b4212acff9" providerId="ADAL" clId="{08A425C7-81E3-4A55-8DCE-B1462E3EB5E1}" dt="2026-10-15T08:09:41.354" v="120" actId="113"/>
        <pc:sldMkLst>
          <pc:docMk/>
          <pc:sldMk cId="2755797371" sldId="271"/>
        </pc:sldMkLst>
        <pc:spChg chg="mod">
          <ac:chgData name="BAEZA Yvan" userId="a7b141fc-4e19-48c1-b5db-47b4212acff9" providerId="ADAL" clId="{08A425C7-81E3-4A55-8DCE-B1462E3EB5E1}" dt="2026-10-15T08:09:41.354" v="120" actId="113"/>
          <ac:spMkLst>
            <pc:docMk/>
            <pc:sldMk cId="2755797371" sldId="271"/>
            <ac:spMk id="5" creationId="{D6D1D996-AF78-2E33-4D03-879719943FD6}"/>
          </ac:spMkLst>
        </pc:spChg>
        <pc:spChg chg="add del mod">
          <ac:chgData name="BAEZA Yvan" userId="a7b141fc-4e19-48c1-b5db-47b4212acff9" providerId="ADAL" clId="{08A425C7-81E3-4A55-8DCE-B1462E3EB5E1}" dt="2026-10-15T07:40:53.584" v="15" actId="478"/>
          <ac:spMkLst>
            <pc:docMk/>
            <pc:sldMk cId="2755797371" sldId="271"/>
            <ac:spMk id="9" creationId="{22224BE1-BF30-E97A-CB01-3466FAB55876}"/>
          </ac:spMkLst>
        </pc:spChg>
        <pc:spChg chg="del">
          <ac:chgData name="BAEZA Yvan" userId="a7b141fc-4e19-48c1-b5db-47b4212acff9" providerId="ADAL" clId="{08A425C7-81E3-4A55-8DCE-B1462E3EB5E1}" dt="2026-10-15T07:35:50.201" v="0" actId="22"/>
          <ac:spMkLst>
            <pc:docMk/>
            <pc:sldMk cId="2755797371" sldId="271"/>
            <ac:spMk id="15" creationId="{18F74703-167B-1C54-5781-1AA08BD47816}"/>
          </ac:spMkLst>
        </pc:spChg>
        <pc:picChg chg="add mod ord">
          <ac:chgData name="BAEZA Yvan" userId="a7b141fc-4e19-48c1-b5db-47b4212acff9" providerId="ADAL" clId="{08A425C7-81E3-4A55-8DCE-B1462E3EB5E1}" dt="2026-10-15T07:41:35.402" v="20" actId="167"/>
          <ac:picMkLst>
            <pc:docMk/>
            <pc:sldMk cId="2755797371" sldId="271"/>
            <ac:picMk id="7" creationId="{B0C12F6C-C011-618D-6375-CFF2EA633ADF}"/>
          </ac:picMkLst>
        </pc:picChg>
      </pc:sldChg>
      <pc:sldChg chg="modSp mod">
        <pc:chgData name="BAEZA Yvan" userId="a7b141fc-4e19-48c1-b5db-47b4212acff9" providerId="ADAL" clId="{08A425C7-81E3-4A55-8DCE-B1462E3EB5E1}" dt="2026-10-15T08:20:42.938" v="188" actId="20577"/>
        <pc:sldMkLst>
          <pc:docMk/>
          <pc:sldMk cId="1829911416" sldId="273"/>
        </pc:sldMkLst>
        <pc:spChg chg="mod">
          <ac:chgData name="BAEZA Yvan" userId="a7b141fc-4e19-48c1-b5db-47b4212acff9" providerId="ADAL" clId="{08A425C7-81E3-4A55-8DCE-B1462E3EB5E1}" dt="2026-10-15T08:20:42.938" v="188" actId="20577"/>
          <ac:spMkLst>
            <pc:docMk/>
            <pc:sldMk cId="1829911416" sldId="273"/>
            <ac:spMk id="14" creationId="{64B4EA27-ABA3-50B4-017D-D6C0F453C450}"/>
          </ac:spMkLst>
        </pc:spChg>
      </pc:sldChg>
      <pc:sldChg chg="modSp mod">
        <pc:chgData name="BAEZA Yvan" userId="a7b141fc-4e19-48c1-b5db-47b4212acff9" providerId="ADAL" clId="{08A425C7-81E3-4A55-8DCE-B1462E3EB5E1}" dt="2026-10-15T08:10:16.376" v="122" actId="113"/>
        <pc:sldMkLst>
          <pc:docMk/>
          <pc:sldMk cId="3776301485" sldId="274"/>
        </pc:sldMkLst>
        <pc:spChg chg="mod">
          <ac:chgData name="BAEZA Yvan" userId="a7b141fc-4e19-48c1-b5db-47b4212acff9" providerId="ADAL" clId="{08A425C7-81E3-4A55-8DCE-B1462E3EB5E1}" dt="2026-10-15T08:10:16.376" v="122" actId="113"/>
          <ac:spMkLst>
            <pc:docMk/>
            <pc:sldMk cId="3776301485" sldId="274"/>
            <ac:spMk id="6" creationId="{330DC331-5D9B-CF53-2607-E8B9FA776F21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B8AD0C8-059B-AEA8-02B5-03B2DA414A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F2DDF08-5948-5A05-DFC4-70A47B1200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C4C70-9B7A-4B3F-9B62-61FBD47E5BD0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CEA825-E1FA-7B97-1796-4BF28A959C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837691-1B5F-34BD-601C-D360EE959B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F4700-86E5-48CF-AACB-A94BF9A4CF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6058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025CC-95B5-47C0-BA18-1C8B2CE9C773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58F5-C3B3-45EB-82E3-9E3FE22C63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5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0:00 – 0:20 (Cédric). </a:t>
            </a:r>
            <a:r>
              <a:rPr dirty="0" err="1"/>
              <a:t>Accroche</a:t>
            </a:r>
            <a:r>
              <a:rPr dirty="0"/>
              <a:t> : « Tout </a:t>
            </a:r>
            <a:r>
              <a:rPr dirty="0" err="1"/>
              <a:t>système</a:t>
            </a:r>
            <a:r>
              <a:rPr dirty="0"/>
              <a:t> </a:t>
            </a:r>
            <a:r>
              <a:rPr dirty="0" err="1"/>
              <a:t>finit</a:t>
            </a:r>
            <a:r>
              <a:rPr dirty="0"/>
              <a:t> par </a:t>
            </a:r>
            <a:r>
              <a:rPr dirty="0" err="1"/>
              <a:t>tomber</a:t>
            </a:r>
            <a:r>
              <a:rPr dirty="0"/>
              <a:t>. Le </a:t>
            </a:r>
            <a:r>
              <a:rPr dirty="0" err="1"/>
              <a:t>nôtre</a:t>
            </a:r>
            <a:r>
              <a:rPr dirty="0"/>
              <a:t> se </a:t>
            </a:r>
            <a:r>
              <a:rPr dirty="0" err="1"/>
              <a:t>relève</a:t>
            </a:r>
            <a:r>
              <a:rPr dirty="0"/>
              <a:t> seul, et le </a:t>
            </a:r>
            <a:r>
              <a:rPr dirty="0" err="1"/>
              <a:t>prouve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vraie</a:t>
            </a:r>
            <a:r>
              <a:rPr dirty="0"/>
              <a:t> transaction.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0:20 – 0:50. Chacun se présente en une phrase (introduction individuelle demandée par la grille nationale).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0:50 – 1:20. Le </a:t>
            </a:r>
            <a:r>
              <a:rPr dirty="0" err="1"/>
              <a:t>besoin</a:t>
            </a:r>
            <a:r>
              <a:rPr dirty="0"/>
              <a:t> : un </a:t>
            </a:r>
            <a:r>
              <a:rPr dirty="0" err="1"/>
              <a:t>opérateur</a:t>
            </a:r>
            <a:r>
              <a:rPr dirty="0"/>
              <a:t> de </a:t>
            </a:r>
            <a:r>
              <a:rPr dirty="0" err="1"/>
              <a:t>paiement</a:t>
            </a:r>
            <a:r>
              <a:rPr dirty="0"/>
              <a:t> </a:t>
            </a:r>
            <a:r>
              <a:rPr dirty="0" err="1"/>
              <a:t>fictif</a:t>
            </a:r>
            <a:r>
              <a:rPr dirty="0"/>
              <a:t> (200 </a:t>
            </a:r>
            <a:r>
              <a:rPr dirty="0" err="1"/>
              <a:t>commerçants</a:t>
            </a:r>
            <a:r>
              <a:rPr dirty="0"/>
              <a:t>, 1,2 M de transactions par jour) met 30 min </a:t>
            </a:r>
            <a:r>
              <a:rPr dirty="0" err="1"/>
              <a:t>ou</a:t>
            </a:r>
            <a:r>
              <a:rPr dirty="0"/>
              <a:t> plus à se </a:t>
            </a:r>
            <a:r>
              <a:rPr dirty="0" err="1"/>
              <a:t>rétablir</a:t>
            </a:r>
            <a:r>
              <a:rPr dirty="0"/>
              <a:t>. Au-</a:t>
            </a:r>
            <a:r>
              <a:rPr dirty="0" err="1"/>
              <a:t>delà</a:t>
            </a:r>
            <a:r>
              <a:rPr dirty="0"/>
              <a:t> de 43 min par </a:t>
            </a:r>
            <a:r>
              <a:rPr dirty="0" err="1"/>
              <a:t>mois</a:t>
            </a:r>
            <a:r>
              <a:rPr dirty="0"/>
              <a:t>, la </a:t>
            </a:r>
            <a:r>
              <a:rPr dirty="0" err="1"/>
              <a:t>pénalité</a:t>
            </a:r>
            <a:r>
              <a:rPr dirty="0"/>
              <a:t> </a:t>
            </a:r>
            <a:r>
              <a:rPr dirty="0" err="1"/>
              <a:t>contractuelle</a:t>
            </a:r>
            <a:r>
              <a:rPr dirty="0"/>
              <a:t> </a:t>
            </a:r>
            <a:r>
              <a:rPr dirty="0" err="1"/>
              <a:t>tombe</a:t>
            </a:r>
            <a:r>
              <a:rPr dirty="0"/>
              <a:t> (~650 k€) et </a:t>
            </a:r>
            <a:r>
              <a:rPr dirty="0" err="1"/>
              <a:t>l'incident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/>
              <a:t>probablement</a:t>
            </a:r>
            <a:r>
              <a:rPr dirty="0"/>
              <a:t> </a:t>
            </a:r>
            <a:r>
              <a:rPr dirty="0" err="1"/>
              <a:t>majeur</a:t>
            </a:r>
            <a:r>
              <a:rPr dirty="0"/>
              <a:t> au </a:t>
            </a:r>
            <a:r>
              <a:rPr dirty="0" err="1"/>
              <a:t>sens</a:t>
            </a:r>
            <a:r>
              <a:rPr dirty="0"/>
              <a:t> de DORA. </a:t>
            </a:r>
            <a:r>
              <a:rPr dirty="0" err="1"/>
              <a:t>D'où</a:t>
            </a:r>
            <a:r>
              <a:rPr dirty="0"/>
              <a:t> </a:t>
            </a:r>
            <a:r>
              <a:rPr dirty="0" err="1"/>
              <a:t>notre</a:t>
            </a:r>
            <a:r>
              <a:rPr dirty="0"/>
              <a:t> </a:t>
            </a:r>
            <a:r>
              <a:rPr dirty="0" err="1"/>
              <a:t>objectif</a:t>
            </a:r>
            <a:r>
              <a:rPr dirty="0"/>
              <a:t> : </a:t>
            </a:r>
            <a:r>
              <a:rPr dirty="0" err="1"/>
              <a:t>moins</a:t>
            </a:r>
            <a:r>
              <a:rPr dirty="0"/>
              <a:t> de 5 min, sans </a:t>
            </a:r>
            <a:r>
              <a:rPr dirty="0" err="1"/>
              <a:t>humain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1:20 – 1:50. Trois flux : le trafic passe par le WAF ; l'observation alimente la détection ; la réaction passe par le moteur de remédiation, qui ne peut lancer qu'une liste fermée d'actions et ne déclare l'incident résolu qu'après une vraie transaction réussie.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1:50 – 3:50 (Axel lance, Léa </a:t>
            </a:r>
            <a:r>
              <a:rPr dirty="0" err="1"/>
              <a:t>commente</a:t>
            </a:r>
            <a:r>
              <a:rPr dirty="0"/>
              <a:t> la </a:t>
            </a:r>
            <a:r>
              <a:rPr dirty="0" err="1"/>
              <a:t>détection</a:t>
            </a:r>
            <a:r>
              <a:rPr dirty="0"/>
              <a:t>, Michael </a:t>
            </a:r>
            <a:r>
              <a:rPr dirty="0" err="1"/>
              <a:t>commente</a:t>
            </a:r>
            <a:r>
              <a:rPr dirty="0"/>
              <a:t> la reprise). Ne rien toucher au clavier du PC </a:t>
            </a:r>
            <a:r>
              <a:rPr dirty="0" err="1"/>
              <a:t>Hôte</a:t>
            </a:r>
            <a:r>
              <a:rPr dirty="0"/>
              <a:t> pendant la reprise. </a:t>
            </a:r>
            <a:r>
              <a:rPr dirty="0" err="1"/>
              <a:t>Démo</a:t>
            </a:r>
            <a:r>
              <a:rPr dirty="0"/>
              <a:t> visage + LED avant </a:t>
            </a:r>
            <a:r>
              <a:rPr dirty="0" err="1"/>
              <a:t>l'attaque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l'API</a:t>
            </a:r>
            <a:r>
              <a:rPr dirty="0"/>
              <a:t> </a:t>
            </a:r>
            <a:r>
              <a:rPr dirty="0" err="1"/>
              <a:t>risque</a:t>
            </a:r>
            <a:r>
              <a:rPr dirty="0"/>
              <a:t> d'être </a:t>
            </a:r>
            <a:r>
              <a:rPr dirty="0" err="1"/>
              <a:t>redémarrée</a:t>
            </a:r>
            <a:r>
              <a:rPr dirty="0"/>
              <a:t> (API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mémoire</a:t>
            </a:r>
            <a:r>
              <a:rPr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Détection ≈ 30 s : l'alerte part après 3 fenêtres anormales consécutives (pas de 10 s), pour éviter les faux positifs. Reprise ~7 s : de l'alerte à la transaction de test réussie, mesurée par le moteur. Soit ≈ 40 s au total, sous les 60 s. 0 transaction perdue : la reprise s'est faite par blocage au WAF, sans redémarrage de l'API (qui est en mémoire).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3:50 – 4:25 (Cédric). EBIOS RM </a:t>
            </a:r>
            <a:r>
              <a:rPr dirty="0" err="1"/>
              <a:t>relié</a:t>
            </a:r>
            <a:r>
              <a:rPr dirty="0"/>
              <a:t> aux </a:t>
            </a:r>
            <a:r>
              <a:rPr dirty="0" err="1"/>
              <a:t>composants</a:t>
            </a:r>
            <a:r>
              <a:rPr dirty="0"/>
              <a:t> </a:t>
            </a:r>
            <a:r>
              <a:rPr dirty="0" err="1"/>
              <a:t>réels</a:t>
            </a:r>
            <a:r>
              <a:rPr dirty="0"/>
              <a:t>. R1 est </a:t>
            </a:r>
            <a:r>
              <a:rPr dirty="0" err="1"/>
              <a:t>traité</a:t>
            </a:r>
            <a:r>
              <a:rPr dirty="0"/>
              <a:t> par la reprise </a:t>
            </a:r>
            <a:r>
              <a:rPr dirty="0" err="1"/>
              <a:t>automatique</a:t>
            </a:r>
            <a:r>
              <a:rPr dirty="0"/>
              <a:t>. Mais R2 et R3 </a:t>
            </a:r>
            <a:r>
              <a:rPr dirty="0" err="1"/>
              <a:t>montrent</a:t>
            </a:r>
            <a:r>
              <a:rPr dirty="0"/>
              <a:t> le </a:t>
            </a:r>
            <a:r>
              <a:rPr dirty="0" err="1"/>
              <a:t>paradoxe</a:t>
            </a:r>
            <a:r>
              <a:rPr dirty="0"/>
              <a:t> : </a:t>
            </a:r>
            <a:r>
              <a:rPr dirty="0" err="1"/>
              <a:t>notre</a:t>
            </a:r>
            <a:r>
              <a:rPr dirty="0"/>
              <a:t> propre restauration efface les transactions, </a:t>
            </a:r>
            <a:r>
              <a:rPr dirty="0" err="1"/>
              <a:t>même</a:t>
            </a:r>
            <a:r>
              <a:rPr dirty="0"/>
              <a:t> après </a:t>
            </a:r>
            <a:r>
              <a:rPr dirty="0" err="1"/>
              <a:t>une</a:t>
            </a:r>
            <a:r>
              <a:rPr dirty="0"/>
              <a:t> injection </a:t>
            </a:r>
            <a:r>
              <a:rPr dirty="0" err="1"/>
              <a:t>que</a:t>
            </a:r>
            <a:r>
              <a:rPr dirty="0"/>
              <a:t> le WAF a </a:t>
            </a:r>
            <a:r>
              <a:rPr dirty="0" err="1"/>
              <a:t>bloquée</a:t>
            </a:r>
            <a:r>
              <a:rPr dirty="0"/>
              <a:t> ; et le </a:t>
            </a:r>
            <a:r>
              <a:rPr dirty="0" err="1"/>
              <a:t>moteur</a:t>
            </a:r>
            <a:r>
              <a:rPr dirty="0"/>
              <a:t> de </a:t>
            </a:r>
            <a:r>
              <a:rPr dirty="0" err="1"/>
              <a:t>remédiation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le bien le plus sensible. Côté DORA : </a:t>
            </a:r>
            <a:r>
              <a:rPr dirty="0" err="1"/>
              <a:t>une</a:t>
            </a:r>
            <a:r>
              <a:rPr dirty="0"/>
              <a:t> reprise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moins</a:t>
            </a:r>
            <a:r>
              <a:rPr dirty="0"/>
              <a:t> de 5 min </a:t>
            </a:r>
            <a:r>
              <a:rPr dirty="0" err="1"/>
              <a:t>reste</a:t>
            </a:r>
            <a:r>
              <a:rPr dirty="0"/>
              <a:t> sous les </a:t>
            </a:r>
            <a:r>
              <a:rPr dirty="0" err="1"/>
              <a:t>seuils</a:t>
            </a:r>
            <a:r>
              <a:rPr dirty="0"/>
              <a:t> </a:t>
            </a:r>
            <a:r>
              <a:rPr dirty="0" err="1"/>
              <a:t>d'incident</a:t>
            </a:r>
            <a:r>
              <a:rPr dirty="0"/>
              <a:t> </a:t>
            </a:r>
            <a:r>
              <a:rPr dirty="0" err="1"/>
              <a:t>majeur</a:t>
            </a:r>
            <a:r>
              <a:rPr dirty="0"/>
              <a:t> ;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perte</a:t>
            </a:r>
            <a:r>
              <a:rPr dirty="0"/>
              <a:t> de données le rend </a:t>
            </a:r>
            <a:r>
              <a:rPr dirty="0" err="1"/>
              <a:t>majeur</a:t>
            </a:r>
            <a:r>
              <a:rPr dirty="0"/>
              <a:t> quelle </a:t>
            </a:r>
            <a:r>
              <a:rPr dirty="0" err="1"/>
              <a:t>que</a:t>
            </a:r>
            <a:r>
              <a:rPr dirty="0"/>
              <a:t> soit la </a:t>
            </a:r>
            <a:r>
              <a:rPr dirty="0" err="1"/>
              <a:t>vitesse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4:25 – 4:50 (Cédric). Trois </a:t>
            </a:r>
            <a:r>
              <a:rPr dirty="0" err="1"/>
              <a:t>décisions</a:t>
            </a:r>
            <a:r>
              <a:rPr dirty="0"/>
              <a:t>, </a:t>
            </a:r>
            <a:r>
              <a:rPr dirty="0" err="1"/>
              <a:t>chacune</a:t>
            </a:r>
            <a:r>
              <a:rPr dirty="0"/>
              <a:t> </a:t>
            </a:r>
            <a:r>
              <a:rPr dirty="0" err="1"/>
              <a:t>appuyée</a:t>
            </a:r>
            <a:r>
              <a:rPr dirty="0"/>
              <a:t> sur un </a:t>
            </a:r>
            <a:r>
              <a:rPr dirty="0" err="1"/>
              <a:t>élément</a:t>
            </a:r>
            <a:r>
              <a:rPr dirty="0"/>
              <a:t> </a:t>
            </a:r>
            <a:r>
              <a:rPr dirty="0" err="1"/>
              <a:t>vérifiable</a:t>
            </a:r>
            <a:r>
              <a:rPr dirty="0"/>
              <a:t> : le temps de reprise </a:t>
            </a:r>
            <a:r>
              <a:rPr dirty="0" err="1"/>
              <a:t>mesuré</a:t>
            </a:r>
            <a:r>
              <a:rPr dirty="0"/>
              <a:t>, le </a:t>
            </a:r>
            <a:r>
              <a:rPr dirty="0" err="1"/>
              <a:t>comptage</a:t>
            </a:r>
            <a:r>
              <a:rPr dirty="0"/>
              <a:t> des transactions, le </a:t>
            </a:r>
            <a:r>
              <a:rPr dirty="0" err="1"/>
              <a:t>registre</a:t>
            </a:r>
            <a:r>
              <a:rPr dirty="0"/>
              <a:t> des </a:t>
            </a:r>
            <a:r>
              <a:rPr dirty="0" err="1"/>
              <a:t>risques</a:t>
            </a:r>
            <a:r>
              <a:rPr dirty="0"/>
              <a:t>. </a:t>
            </a:r>
            <a:r>
              <a:rPr dirty="0" err="1"/>
              <a:t>Puis</a:t>
            </a:r>
            <a:r>
              <a:rPr dirty="0"/>
              <a:t> les </a:t>
            </a:r>
            <a:r>
              <a:rPr dirty="0" err="1"/>
              <a:t>limites</a:t>
            </a:r>
            <a:r>
              <a:rPr dirty="0"/>
              <a:t> </a:t>
            </a:r>
            <a:r>
              <a:rPr dirty="0" err="1"/>
              <a:t>assumées</a:t>
            </a:r>
            <a:r>
              <a:rPr dirty="0"/>
              <a:t> d'un prototype de quatre </a:t>
            </a:r>
            <a:r>
              <a:rPr dirty="0" err="1"/>
              <a:t>jours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4:50 – 5:00. Ouvrir sur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Pendant la démo (15 à 20 s, Axel). Consigne additionnelle 1 : la caméra USB est branchée sur le PC Hôte, la reconnaissance tourne en local. Si la caméra ou le WiFi lâchent, on montre cette slide et on enchaîne. Limite assumée : pas de détection du vivant, d'où le mot de passe toujours exigé.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F1FA278C-CBFF-6B11-2A4D-023B57C518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" y="-126999"/>
            <a:ext cx="12306300" cy="7061200"/>
          </a:xfrm>
          <a:prstGeom prst="rect">
            <a:avLst/>
          </a:prstGeom>
          <a:solidFill>
            <a:srgbClr val="261E48"/>
          </a:solidFill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7541FE8-FE2B-24CC-F8E5-7AFF67296B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D6769C-C79D-4F8F-DF7E-0923FDA016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E0F667-49D9-9B79-8085-C5F789D37A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670F8F5E-FAD9-4DF2-87EE-0E6439773DB4}" type="datetime1">
              <a:rPr lang="fr-FR" smtClean="0"/>
              <a:t>22/10/2026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7D47F2-272F-C949-EB30-09209A6FCD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C6BEDF-980A-03FE-2838-58170EC35F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C3CD0481-34F7-36B0-7172-0D19A1D92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49400" y="4759525"/>
            <a:ext cx="1800000" cy="0"/>
          </a:xfrm>
          <a:prstGeom prst="line">
            <a:avLst/>
          </a:prstGeom>
          <a:ln w="31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FBC4389A-3F03-ABAC-4FCB-9F74A6EEB2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238036" y="5169619"/>
            <a:ext cx="1437585" cy="824781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73016E1B-FC09-0923-F2D2-33AF3323F4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000" y="5058995"/>
            <a:ext cx="2160000" cy="103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1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5C7907-F6B7-E131-59E3-E6462320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1990725"/>
            <a:ext cx="10515600" cy="422040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F2C9E96-8C39-4749-8763-46921CE4FA8A}" type="datetime1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63179"/>
            <a:ext cx="10067925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57D1B306-7018-4BBF-9355-4EC28955C7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05BE9617-FCB3-D89F-0AAD-EF9059CDE7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63180"/>
            <a:ext cx="10067925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6CFB26CC-2725-45E6-B05C-349C0D3E0243}" type="datetime1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F4085F6-F2FB-AC6A-05CB-A7309346EC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1" y="2224360"/>
            <a:ext cx="4680000" cy="2995598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5C7907-F6B7-E131-59E3-E6462320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2224360"/>
            <a:ext cx="4680000" cy="2968928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E3260CB-0A08-2005-909A-5E99DADFEB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73801" y="2224360"/>
            <a:ext cx="4680000" cy="2995598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4150D707-3560-D748-2D5D-BF2F0D3091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6673800" y="2224360"/>
            <a:ext cx="4680000" cy="2968928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DA29909-4745-00CE-13EA-000EE57F14E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96000" y="2438400"/>
            <a:ext cx="0" cy="2552700"/>
          </a:xfrm>
          <a:prstGeom prst="line">
            <a:avLst/>
          </a:prstGeom>
          <a:ln w="12700">
            <a:solidFill>
              <a:srgbClr val="261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9">
            <a:extLst>
              <a:ext uri="{FF2B5EF4-FFF2-40B4-BE49-F238E27FC236}">
                <a16:creationId xmlns:a16="http://schemas.microsoft.com/office/drawing/2014/main" id="{8DB1B8C0-6279-EB02-7E6D-50DDB60621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28" name="Graphique 27">
            <a:extLst>
              <a:ext uri="{FF2B5EF4-FFF2-40B4-BE49-F238E27FC236}">
                <a16:creationId xmlns:a16="http://schemas.microsoft.com/office/drawing/2014/main" id="{DB78041A-1D23-39D6-4B35-7FED2C6E25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99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9372075B-535F-4F05-8E73-038CD02F05CC}" type="datetime1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63182"/>
            <a:ext cx="10067925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F4085F6-F2FB-AC6A-05CB-A7309346EC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1" y="2251030"/>
            <a:ext cx="3240000" cy="3174985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5C7907-F6B7-E131-59E3-E6462320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1" y="2251030"/>
            <a:ext cx="3240000" cy="3153269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78E753F-8F2D-EA9A-0153-E45ABB3F64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476000" y="2251030"/>
            <a:ext cx="3240000" cy="3174985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448A2DBC-02E6-AFFA-A43D-846DAD8B6D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4476000" y="2251030"/>
            <a:ext cx="3240000" cy="3153269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FFD2875-198C-70E9-03AD-4DF4CDD673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113799" y="2251030"/>
            <a:ext cx="3240000" cy="317498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2DB75632-6E0F-F9DB-9F00-47C01E1ED9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8113799" y="2251031"/>
            <a:ext cx="3240000" cy="3153600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BDCDD73-A1E8-8C00-6484-A41B084ED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677AEE64-35C4-A05E-0FEE-3242EAEA85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6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096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B77B16B1-2A42-412B-8D41-E75ECB4A4282}" type="datetime1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54215"/>
            <a:ext cx="10067925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9C3E6D1-A8ED-E949-22B7-30D218C2D6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73801" y="2693590"/>
            <a:ext cx="4680000" cy="2526368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08A51935-41F4-3EC8-E972-D4F38B74F5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4"/>
          </p:nvPr>
        </p:nvSpPr>
        <p:spPr>
          <a:xfrm>
            <a:off x="6673800" y="2689412"/>
            <a:ext cx="4680000" cy="2503876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94E2DE63-E2EF-B8C8-AE9A-1027D812229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96000" y="2838254"/>
            <a:ext cx="0" cy="2152846"/>
          </a:xfrm>
          <a:prstGeom prst="line">
            <a:avLst/>
          </a:prstGeom>
          <a:ln w="12700">
            <a:solidFill>
              <a:srgbClr val="261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9">
            <a:extLst>
              <a:ext uri="{FF2B5EF4-FFF2-40B4-BE49-F238E27FC236}">
                <a16:creationId xmlns:a16="http://schemas.microsoft.com/office/drawing/2014/main" id="{C3B3E227-1567-CD90-20ED-2BAF638E397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833020" y="2096980"/>
            <a:ext cx="4520780" cy="313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400" b="1" dirty="0" err="1">
                <a:solidFill>
                  <a:srgbClr val="261E4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Titre</a:t>
            </a:r>
            <a:endParaRPr lang="en-US" sz="1400" b="1" dirty="0">
              <a:solidFill>
                <a:srgbClr val="261E4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FD963364-FC8E-B2D0-E6E4-ADF489C820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2" y="2693590"/>
            <a:ext cx="4680000" cy="2526368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EEB09D77-D180-748A-7F0E-78360B6818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838201" y="2689412"/>
            <a:ext cx="4680000" cy="2503876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23B0DC89-E679-5DC2-3084-CD9D159EBA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97421" y="2096980"/>
            <a:ext cx="4520780" cy="313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400" b="1" dirty="0" err="1">
                <a:solidFill>
                  <a:srgbClr val="261E4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Titre</a:t>
            </a:r>
            <a:endParaRPr lang="en-US" sz="1400" b="1" dirty="0">
              <a:solidFill>
                <a:srgbClr val="261E4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5" name="Freeform 9">
            <a:extLst>
              <a:ext uri="{FF2B5EF4-FFF2-40B4-BE49-F238E27FC236}">
                <a16:creationId xmlns:a16="http://schemas.microsoft.com/office/drawing/2014/main" id="{ABAC7C0C-5C53-F415-9CB2-3AD1057E2F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47" name="Graphique 46">
            <a:extLst>
              <a:ext uri="{FF2B5EF4-FFF2-40B4-BE49-F238E27FC236}">
                <a16:creationId xmlns:a16="http://schemas.microsoft.com/office/drawing/2014/main" id="{28177FCF-884F-39C7-E251-0967A5B538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39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096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4C0ED622-32BC-44E2-86ED-F761501B369C}" type="datetime1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CA084A0F-C907-099C-0444-6C57477362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3"/>
          </p:nvPr>
        </p:nvSpPr>
        <p:spPr>
          <a:xfrm>
            <a:off x="1285874" y="1254215"/>
            <a:ext cx="10067926" cy="36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61E48"/>
                </a:solidFill>
                <a:latin typeface="Montserrat italic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38" name="Espace réservé du contenu 2">
            <a:extLst>
              <a:ext uri="{FF2B5EF4-FFF2-40B4-BE49-F238E27FC236}">
                <a16:creationId xmlns:a16="http://schemas.microsoft.com/office/drawing/2014/main" id="{04443A4C-F69E-931F-76DB-C3F3DE0399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5"/>
          </p:nvPr>
        </p:nvSpPr>
        <p:spPr>
          <a:xfrm>
            <a:off x="838199" y="2133599"/>
            <a:ext cx="4680000" cy="3836699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8926C44A-C958-EE95-098B-E32D23CAD8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6"/>
          </p:nvPr>
        </p:nvSpPr>
        <p:spPr>
          <a:xfrm>
            <a:off x="6673800" y="2133599"/>
            <a:ext cx="4680000" cy="3836699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77C44F22-EA03-8824-79CD-D39933DD5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8F7FDAAA-F179-F643-A04C-8AC65B5858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11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FA5B1-252A-A2FA-B0CB-EB776233DA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D54793-FF99-0625-042A-72D57CA254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9788" y="126878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A3F7AC-4362-6646-0DC6-7FF2EEB1D6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half" idx="2"/>
          </p:nvPr>
        </p:nvSpPr>
        <p:spPr>
          <a:xfrm>
            <a:off x="839788" y="2128553"/>
            <a:ext cx="5157787" cy="368458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A999CD8-D1B9-2EFD-1C09-729E9531D8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"/>
          </p:nvPr>
        </p:nvSpPr>
        <p:spPr>
          <a:xfrm>
            <a:off x="6172200" y="126878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EC497F3-A449-09C3-74E7-D9E6FA9A78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4"/>
          </p:nvPr>
        </p:nvSpPr>
        <p:spPr>
          <a:xfrm>
            <a:off x="6172200" y="2128553"/>
            <a:ext cx="5183188" cy="368458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73D6C0A-03C4-B38D-530B-4DEAA40576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5D8A63D6-5519-481F-83D6-82004FF8A44A}" type="datetime1">
              <a:rPr lang="fr-FR" smtClean="0"/>
              <a:t>22/10/2026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DE1E781-4F11-4D2E-E736-B227980D04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311E42-B9DF-0268-1404-085C055815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239AF4B4-C299-17B9-75F6-44817CFCB8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7730B1BB-05DC-00A5-1182-5D7EAC5339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5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BB5C8-070C-5B8F-5A33-9F5952DFA1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7D282C-573F-0644-ED51-815B2C49DE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788D326E-31FC-4603-9A96-08168D8CEDB1}" type="datetime1">
              <a:rPr lang="fr-FR" smtClean="0"/>
              <a:t>22/10/2026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36D820-CD29-9C3E-D55E-19E5CACDC8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78BD0F-B5CF-36B3-BC88-EDD13C7542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3C7346FD-5D3C-C568-5555-59C20019C6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0F89AF32-B56E-0130-1E5B-C6A738DF55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B594B31F-341E-4366-56B5-DCB1BC639B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38200" y="1381119"/>
            <a:ext cx="10515600" cy="422040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408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3BA03-2A07-CC5F-4BFD-9C802BD9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882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39EEFA43-ACCC-2DDB-493D-9D0BC8D287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0" y="1798535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Lundi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8D4B32-67F2-1077-D39C-DCC4048D0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99C81A82-B47E-4747-9997-636BAF5B294E}" type="datetime1">
              <a:rPr lang="fr-FR" smtClean="0"/>
              <a:t>22/10/2026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AEAD1-9CE0-1FC3-0E81-6B4C1BF40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6510E7-4A36-155B-3648-D249A766D6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7AE2D55B-A4E3-4C84-95F3-069B4A0B514D}" type="slidenum">
              <a:rPr lang="fr-FR" smtClean="0"/>
              <a:t>‹N°›</a:t>
            </a:fld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F4085F6-F2FB-AC6A-05CB-A7309346EC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70341" y="212228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5C7907-F6B7-E131-59E3-E64623207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870341" y="212022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BDCDD73-A1E8-8C00-6484-A41B084ED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696575" y="5799895"/>
            <a:ext cx="657225" cy="377068"/>
          </a:xfrm>
          <a:custGeom>
            <a:avLst/>
            <a:gdLst/>
            <a:ahLst/>
            <a:cxnLst/>
            <a:rect l="l" t="t" r="r" b="b"/>
            <a:pathLst>
              <a:path w="1872148" h="1074103">
                <a:moveTo>
                  <a:pt x="0" y="0"/>
                </a:moveTo>
                <a:lnTo>
                  <a:pt x="1872148" y="0"/>
                </a:lnTo>
                <a:lnTo>
                  <a:pt x="1872148" y="1074103"/>
                </a:lnTo>
                <a:lnTo>
                  <a:pt x="0" y="1074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" r="-107"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677AEE64-35C4-A05E-0FEE-3242EAEA85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6340" y="5491130"/>
            <a:ext cx="1505455" cy="720000"/>
          </a:xfrm>
          <a:prstGeom prst="rect">
            <a:avLst/>
          </a:prstGeom>
        </p:spPr>
      </p:pic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DFA65BD8-FF98-189F-F39E-24C453CA7E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70341" y="363765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space réservé du contenu 2">
            <a:extLst>
              <a:ext uri="{FF2B5EF4-FFF2-40B4-BE49-F238E27FC236}">
                <a16:creationId xmlns:a16="http://schemas.microsoft.com/office/drawing/2014/main" id="{5EA65321-D4FD-4BA9-B562-AFAA6EE485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8"/>
          </p:nvPr>
        </p:nvSpPr>
        <p:spPr>
          <a:xfrm>
            <a:off x="870341" y="363559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A235387B-EBEC-13B3-FA7A-6810E74597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79173" y="1798535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Mardi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B30F33B6-D16F-1ACD-AA79-EB3475364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011314" y="212228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Espace réservé du contenu 2">
            <a:extLst>
              <a:ext uri="{FF2B5EF4-FFF2-40B4-BE49-F238E27FC236}">
                <a16:creationId xmlns:a16="http://schemas.microsoft.com/office/drawing/2014/main" id="{CA5603C8-DAE7-A421-8D36-360B1500CC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9"/>
          </p:nvPr>
        </p:nvSpPr>
        <p:spPr>
          <a:xfrm>
            <a:off x="3011314" y="212022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71940A5C-CD0D-2A7D-6650-3F0A5FC89C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011314" y="363765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Espace réservé du contenu 2">
            <a:extLst>
              <a:ext uri="{FF2B5EF4-FFF2-40B4-BE49-F238E27FC236}">
                <a16:creationId xmlns:a16="http://schemas.microsoft.com/office/drawing/2014/main" id="{83C86029-B457-A1FC-4943-D662750F15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0"/>
          </p:nvPr>
        </p:nvSpPr>
        <p:spPr>
          <a:xfrm>
            <a:off x="3011314" y="363559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AFD9714F-052C-D8CF-1461-F64D65804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96754" y="1798535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Mercredi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A5D4637C-C59F-51DE-B978-033BB68F0A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128895" y="212228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space réservé du contenu 2">
            <a:extLst>
              <a:ext uri="{FF2B5EF4-FFF2-40B4-BE49-F238E27FC236}">
                <a16:creationId xmlns:a16="http://schemas.microsoft.com/office/drawing/2014/main" id="{6A814CB7-AD64-541C-7F0C-9A7370C38B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1"/>
          </p:nvPr>
        </p:nvSpPr>
        <p:spPr>
          <a:xfrm>
            <a:off x="5128895" y="212022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4376143E-A380-E7DA-0E69-1D2729DACC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128895" y="3637651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space réservé du contenu 2">
            <a:extLst>
              <a:ext uri="{FF2B5EF4-FFF2-40B4-BE49-F238E27FC236}">
                <a16:creationId xmlns:a16="http://schemas.microsoft.com/office/drawing/2014/main" id="{F3652B82-30AF-0673-5039-14E4BF3C3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2"/>
          </p:nvPr>
        </p:nvSpPr>
        <p:spPr>
          <a:xfrm>
            <a:off x="5128895" y="3635593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ACAA90A8-0990-FCCE-8D33-D774ADA1D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32827" y="1784791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Jeudi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7EC3B833-7E16-E16B-B72E-34821F6C86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64968" y="2108537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Espace réservé du contenu 2">
            <a:extLst>
              <a:ext uri="{FF2B5EF4-FFF2-40B4-BE49-F238E27FC236}">
                <a16:creationId xmlns:a16="http://schemas.microsoft.com/office/drawing/2014/main" id="{A5092395-C05F-67C1-E339-A4824755DC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3"/>
          </p:nvPr>
        </p:nvSpPr>
        <p:spPr>
          <a:xfrm>
            <a:off x="7264968" y="2106479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E8B58CAB-D50E-E957-8861-6D666079A5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64968" y="3623907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Espace réservé du contenu 2">
            <a:extLst>
              <a:ext uri="{FF2B5EF4-FFF2-40B4-BE49-F238E27FC236}">
                <a16:creationId xmlns:a16="http://schemas.microsoft.com/office/drawing/2014/main" id="{9E367BD0-4212-7965-EA60-18A7D2885A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4"/>
          </p:nvPr>
        </p:nvSpPr>
        <p:spPr>
          <a:xfrm>
            <a:off x="7264968" y="3621849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47696806-D597-E9C8-685C-FD4CA0F772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373800" y="1782902"/>
            <a:ext cx="1980000" cy="3306114"/>
          </a:xfrm>
          <a:prstGeom prst="roundRect">
            <a:avLst>
              <a:gd name="adj" fmla="val 2193"/>
            </a:avLst>
          </a:prstGeom>
          <a:solidFill>
            <a:srgbClr val="261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dirty="0">
                <a:latin typeface="Montserrat" pitchFamily="2" charset="0"/>
              </a:rPr>
              <a:t>Vendredi</a:t>
            </a:r>
            <a:endParaRPr lang="fr-FR" dirty="0">
              <a:latin typeface="Montserrat" pitchFamily="2" charset="0"/>
            </a:endParaRPr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A6968603-52B3-F392-AE80-3C7E131C3A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05941" y="2106648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space réservé du contenu 2">
            <a:extLst>
              <a:ext uri="{FF2B5EF4-FFF2-40B4-BE49-F238E27FC236}">
                <a16:creationId xmlns:a16="http://schemas.microsoft.com/office/drawing/2014/main" id="{D77DFDF4-D0AC-A4DB-FF77-DE4701DDC5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5"/>
          </p:nvPr>
        </p:nvSpPr>
        <p:spPr>
          <a:xfrm>
            <a:off x="9405941" y="2104590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CD80C315-B569-DE7E-61FE-AE8AC39E73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05941" y="3622018"/>
            <a:ext cx="1915718" cy="1437504"/>
          </a:xfrm>
          <a:prstGeom prst="roundRect">
            <a:avLst>
              <a:gd name="adj" fmla="val 2465"/>
            </a:avLst>
          </a:prstGeom>
          <a:solidFill>
            <a:srgbClr val="A1A6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space réservé du contenu 2">
            <a:extLst>
              <a:ext uri="{FF2B5EF4-FFF2-40B4-BE49-F238E27FC236}">
                <a16:creationId xmlns:a16="http://schemas.microsoft.com/office/drawing/2014/main" id="{E63819FB-EA7E-003C-3A24-79A1E48DC8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26"/>
          </p:nvPr>
        </p:nvSpPr>
        <p:spPr>
          <a:xfrm>
            <a:off x="9405941" y="3619960"/>
            <a:ext cx="1915718" cy="1427672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rgbClr val="261E48"/>
                </a:solidFill>
                <a:latin typeface="Montserrat" pitchFamily="2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506DBED5-7100-DD1F-CA6E-BDE84EA92C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0" y="5280499"/>
            <a:ext cx="7772400" cy="900000"/>
          </a:xfrm>
          <a:prstGeom prst="roundRect">
            <a:avLst>
              <a:gd name="adj" fmla="val 8457"/>
            </a:avLst>
          </a:prstGeom>
          <a:solidFill>
            <a:srgbClr val="A1A6D4"/>
          </a:solidFill>
          <a:ln w="28575">
            <a:solidFill>
              <a:srgbClr val="261E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Espace réservé du texte 76">
            <a:extLst>
              <a:ext uri="{FF2B5EF4-FFF2-40B4-BE49-F238E27FC236}">
                <a16:creationId xmlns:a16="http://schemas.microsoft.com/office/drawing/2014/main" id="{9F80D05F-725A-9F28-6A53-F8C77669A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/>
          </p:nvPr>
        </p:nvSpPr>
        <p:spPr>
          <a:xfrm>
            <a:off x="838199" y="5294243"/>
            <a:ext cx="7772401" cy="88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04509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3D3D6A7-FF7B-B586-52F4-ADC35E546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4B397C-74AF-2BFD-A6A9-885AAD2770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Contenu texte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940389-E416-64CF-697E-AB4C044EA4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ontserrat" pitchFamily="2" charset="0"/>
              </a:defRPr>
            </a:lvl1pPr>
          </a:lstStyle>
          <a:p>
            <a:fld id="{065D9175-3EB5-4180-B9B2-2E197B3E8294}" type="datetime1">
              <a:rPr lang="fr-FR" smtClean="0"/>
              <a:t>22/10/2026</a:t>
            </a:fld>
            <a:endParaRPr lang="fr-FR" dirty="0">
              <a:latin typeface="Montserrat" pitchFamily="2" charset="0"/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FA09F5-2C15-4D25-FEF0-FBA2BC2D21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ontserrat" pitchFamily="2" charset="0"/>
              </a:defRPr>
            </a:lvl1pPr>
          </a:lstStyle>
          <a:p>
            <a:endParaRPr lang="fr-FR" dirty="0">
              <a:latin typeface="Montserrat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C60F83-6957-0A97-A417-640079BD46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itchFamily="2" charset="0"/>
              </a:defRPr>
            </a:lvl1pPr>
          </a:lstStyle>
          <a:p>
            <a:fld id="{7AE2D55B-A4E3-4C84-95F3-069B4A0B514D}" type="slidenum">
              <a:rPr lang="fr-FR" smtClean="0"/>
              <a:pPr/>
              <a:t>‹N°›</a:t>
            </a:fld>
            <a:endParaRPr lang="fr-FR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41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70" r:id="rId4"/>
    <p:sldLayoutId id="2147483672" r:id="rId5"/>
    <p:sldLayoutId id="2147483675" r:id="rId6"/>
    <p:sldLayoutId id="2147483653" r:id="rId7"/>
    <p:sldLayoutId id="2147483654" r:id="rId8"/>
    <p:sldLayoutId id="2147483676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61E48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rgbClr val="261E48"/>
          </a:solidFill>
          <a:latin typeface="Montserra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61E48"/>
          </a:solidFill>
          <a:latin typeface="Monsterr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261E48"/>
          </a:solidFill>
          <a:latin typeface="Monsterr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261E48"/>
          </a:solidFill>
          <a:latin typeface="Monsterra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rgbClr val="261E48"/>
          </a:solidFill>
          <a:latin typeface="Monsterr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</a:t>
            </a:r>
          </a:p>
          <a:p>
            <a:r>
              <a:t>RESILIENCE-ALPHA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Groupe 6 · Une plateforme de paiement qui se relève seule</a:t>
            </a:r>
          </a:p>
          <a:p>
            <a:r>
              <a:t>Michael · Reza · Léa · Axel · Cédric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Cinq piliers, une seule chaîne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828800"/>
            <a:ext cx="1965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458468" y="2103120"/>
            <a:ext cx="731520" cy="73152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3017520"/>
            <a:ext cx="1691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261E48"/>
                </a:solidFill>
                <a:latin typeface="Montserrat"/>
              </a:rPr>
              <a:t>Michael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3429000"/>
            <a:ext cx="16916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4A4470"/>
                </a:solidFill>
                <a:latin typeface="Montserrat"/>
              </a:rPr>
              <a:t>Développement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0944" y="1828800"/>
            <a:ext cx="1965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98164" y="2103120"/>
            <a:ext cx="731520" cy="73152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3" y="3017520"/>
            <a:ext cx="1691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261E48"/>
                </a:solidFill>
                <a:latin typeface="Montserrat"/>
              </a:rPr>
              <a:t>Reza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3" y="3429000"/>
            <a:ext cx="16916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4A4470"/>
                </a:solidFill>
                <a:latin typeface="Montserrat"/>
              </a:rPr>
              <a:t>Infrastructure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1965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37859" y="2103120"/>
            <a:ext cx="731520" cy="73152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017520"/>
            <a:ext cx="1691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261E48"/>
                </a:solidFill>
                <a:latin typeface="Montserrat"/>
              </a:rPr>
              <a:t>Léa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429000"/>
            <a:ext cx="16916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4A4470"/>
                </a:solidFill>
                <a:latin typeface="Montserrat"/>
              </a:rPr>
              <a:t>IA /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828800"/>
            <a:ext cx="1965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877555" y="2103120"/>
            <a:ext cx="731520" cy="73152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3017520"/>
            <a:ext cx="1691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261E48"/>
                </a:solidFill>
                <a:latin typeface="Montserrat"/>
              </a:rPr>
              <a:t>Axel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3429000"/>
            <a:ext cx="16916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4A4470"/>
                </a:solidFill>
                <a:latin typeface="Montserrat"/>
              </a:rPr>
              <a:t>Cybersécurité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0032" y="1828800"/>
            <a:ext cx="1965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17251" y="2103120"/>
            <a:ext cx="731520" cy="73152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3017520"/>
            <a:ext cx="1691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261E48"/>
                </a:solidFill>
                <a:latin typeface="Montserrat"/>
              </a:rPr>
              <a:t>Cédric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192" y="3429000"/>
            <a:ext cx="16916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4A4470"/>
                </a:solidFill>
                <a:latin typeface="Montserrat"/>
              </a:rPr>
              <a:t>Gouvernance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arrêt</a:t>
            </a:r>
            <a:r>
              <a:rPr dirty="0"/>
              <a:t> </a:t>
            </a:r>
            <a:r>
              <a:rPr dirty="0" err="1"/>
              <a:t>coûte</a:t>
            </a:r>
            <a:r>
              <a:rPr dirty="0"/>
              <a:t> peu,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explose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841248" y="1828800"/>
            <a:ext cx="3291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5568" y="214884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dirty="0">
                <a:solidFill>
                  <a:srgbClr val="261E48"/>
                </a:solidFill>
                <a:latin typeface="Montserrat"/>
              </a:rPr>
              <a:t>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38328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 err="1">
                <a:solidFill>
                  <a:srgbClr val="261E48"/>
                </a:solidFill>
                <a:latin typeface="Montserrat"/>
              </a:rPr>
              <a:t>ou</a:t>
            </a:r>
            <a:r>
              <a:rPr sz="1500" b="0" i="0" dirty="0">
                <a:solidFill>
                  <a:srgbClr val="261E48"/>
                </a:solidFill>
                <a:latin typeface="Montserrat"/>
              </a:rPr>
              <a:t> plus de reprise </a:t>
            </a:r>
            <a:r>
              <a:rPr sz="1500" b="0" i="0" dirty="0" err="1">
                <a:solidFill>
                  <a:srgbClr val="261E48"/>
                </a:solidFill>
                <a:latin typeface="Montserrat"/>
              </a:rPr>
              <a:t>manuelle</a:t>
            </a:r>
            <a:r>
              <a:rPr sz="1500" b="0" i="0" dirty="0">
                <a:solidFill>
                  <a:srgbClr val="261E48"/>
                </a:solidFill>
                <a:latin typeface="Montserrat"/>
              </a:rPr>
              <a:t> </a:t>
            </a:r>
            <a:r>
              <a:rPr sz="1500" b="0" i="0" dirty="0" err="1">
                <a:solidFill>
                  <a:srgbClr val="261E48"/>
                </a:solidFill>
                <a:latin typeface="Montserrat"/>
              </a:rPr>
              <a:t>aujourd'hui</a:t>
            </a:r>
            <a:endParaRPr sz="1500" b="0" i="0" dirty="0">
              <a:solidFill>
                <a:srgbClr val="261E48"/>
              </a:solidFill>
              <a:latin typeface="Montserra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07408" y="1828800"/>
            <a:ext cx="3291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81728" y="214884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B85450"/>
                </a:solidFill>
                <a:latin typeface="Montserrat"/>
              </a:rPr>
              <a:t>700 k€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338328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261E48"/>
                </a:solidFill>
                <a:latin typeface="Montserrat"/>
              </a:rPr>
              <a:t>un </a:t>
            </a:r>
            <a:r>
              <a:rPr sz="1500" b="0" i="0" dirty="0" err="1">
                <a:solidFill>
                  <a:srgbClr val="261E48"/>
                </a:solidFill>
                <a:latin typeface="Montserrat"/>
              </a:rPr>
              <a:t>arrêt</a:t>
            </a:r>
            <a:r>
              <a:rPr sz="1500" b="0" i="0" dirty="0">
                <a:solidFill>
                  <a:srgbClr val="261E48"/>
                </a:solidFill>
                <a:latin typeface="Montserrat"/>
              </a:rPr>
              <a:t> de 30 min à 2 h : </a:t>
            </a:r>
            <a:r>
              <a:rPr sz="1500" b="0" i="0" dirty="0" err="1">
                <a:solidFill>
                  <a:srgbClr val="261E48"/>
                </a:solidFill>
                <a:latin typeface="Montserrat"/>
              </a:rPr>
              <a:t>pénalité</a:t>
            </a:r>
            <a:r>
              <a:rPr sz="1500" b="0" i="0" dirty="0">
                <a:solidFill>
                  <a:srgbClr val="261E48"/>
                </a:solidFill>
                <a:latin typeface="Montserrat"/>
              </a:rPr>
              <a:t> </a:t>
            </a:r>
            <a:r>
              <a:rPr sz="1500" b="0" i="0" dirty="0" err="1">
                <a:solidFill>
                  <a:srgbClr val="261E48"/>
                </a:solidFill>
                <a:latin typeface="Montserrat"/>
              </a:rPr>
              <a:t>contractuelle</a:t>
            </a:r>
            <a:r>
              <a:rPr sz="1500" b="0" i="0" dirty="0">
                <a:solidFill>
                  <a:srgbClr val="261E48"/>
                </a:solidFill>
                <a:latin typeface="Montserrat"/>
              </a:rPr>
              <a:t>, incident </a:t>
            </a:r>
            <a:r>
              <a:rPr sz="1500" b="0" i="0" dirty="0" err="1">
                <a:solidFill>
                  <a:srgbClr val="261E48"/>
                </a:solidFill>
                <a:latin typeface="Montserrat"/>
              </a:rPr>
              <a:t>majeur</a:t>
            </a:r>
            <a:r>
              <a:rPr sz="1500" b="0" i="0" dirty="0">
                <a:solidFill>
                  <a:srgbClr val="261E48"/>
                </a:solidFill>
                <a:latin typeface="Montserrat"/>
              </a:rPr>
              <a:t> DORA probable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3568" y="1828800"/>
            <a:ext cx="32918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214884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261E48"/>
                </a:solidFill>
                <a:latin typeface="Montserrat"/>
              </a:rPr>
              <a:t>&lt; 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338328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61E48"/>
                </a:solidFill>
                <a:latin typeface="Montserrat"/>
              </a:rPr>
              <a:t>notre objectif de reprise automatique : environ 1,5 k€, aucune notification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257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4A4470"/>
                </a:solidFill>
                <a:latin typeface="Montserrat"/>
              </a:rPr>
              <a:t>Hypothèses chiffrées : 200 commerçants partenaires, 1,2 million de transactions par jour, contrat de disponibilité à 99,9 %.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Détecter, réparer, prouver</a:t>
            </a:r>
          </a:p>
        </p:txBody>
      </p:sp>
      <p:pic>
        <p:nvPicPr>
          <p:cNvPr id="3" name="Picture 2" descr="architecture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63040"/>
            <a:ext cx="6949440" cy="392059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366760" y="1554480"/>
            <a:ext cx="548640" cy="54864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98280" y="153619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61E48"/>
                </a:solidFill>
                <a:latin typeface="Montserrat"/>
              </a:rPr>
              <a:t>Détecter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93852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1E48"/>
                </a:solidFill>
                <a:latin typeface="Montserrat"/>
              </a:rPr>
              <a:t>Apprentissage sur le trafic normal : alerte signée après ~30 s d'anomalie</a:t>
            </a:r>
          </a:p>
        </p:txBody>
      </p:sp>
      <p:sp>
        <p:nvSpPr>
          <p:cNvPr id="7" name="Oval 6"/>
          <p:cNvSpPr/>
          <p:nvPr/>
        </p:nvSpPr>
        <p:spPr>
          <a:xfrm>
            <a:off x="8366760" y="2834639"/>
            <a:ext cx="548640" cy="54864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2816351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61E48"/>
                </a:solidFill>
                <a:latin typeface="Montserrat"/>
              </a:rPr>
              <a:t>Réparer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3218687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1E48"/>
                </a:solidFill>
                <a:latin typeface="Montserrat"/>
              </a:rPr>
              <a:t>Blocage de la source au WAF, redémarrage si besoin : liste fermée d'actions</a:t>
            </a:r>
          </a:p>
        </p:txBody>
      </p:sp>
      <p:sp>
        <p:nvSpPr>
          <p:cNvPr id="10" name="Oval 9"/>
          <p:cNvSpPr/>
          <p:nvPr/>
        </p:nvSpPr>
        <p:spPr>
          <a:xfrm>
            <a:off x="8366760" y="4114800"/>
            <a:ext cx="548640" cy="54864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409651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61E48"/>
                </a:solidFill>
                <a:latin typeface="Montserrat"/>
              </a:rPr>
              <a:t>Prouver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449884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1E48"/>
                </a:solidFill>
                <a:latin typeface="Montserrat"/>
              </a:rPr>
              <a:t>Une transaction de test réelle traverse le WAF : sinon, escalade humaine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Démonstration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Attaque</a:t>
            </a:r>
            <a:r>
              <a:rPr dirty="0"/>
              <a:t> A </a:t>
            </a:r>
            <a:r>
              <a:rPr dirty="0" err="1"/>
              <a:t>depuis</a:t>
            </a:r>
            <a:r>
              <a:rPr dirty="0"/>
              <a:t> le PC </a:t>
            </a:r>
            <a:r>
              <a:rPr dirty="0" err="1"/>
              <a:t>Attaquant</a:t>
            </a:r>
            <a:r>
              <a:rPr dirty="0"/>
              <a:t> → </a:t>
            </a:r>
            <a:r>
              <a:rPr dirty="0" err="1"/>
              <a:t>détection</a:t>
            </a:r>
            <a:r>
              <a:rPr dirty="0"/>
              <a:t> → reprise sans intervention → transaction </a:t>
            </a:r>
            <a:r>
              <a:rPr dirty="0" err="1"/>
              <a:t>réussie</a:t>
            </a:r>
            <a:endParaRPr dirty="0"/>
          </a:p>
          <a:p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connexion</a:t>
            </a:r>
            <a:r>
              <a:rPr dirty="0"/>
              <a:t> au back-office par le visage, avec la LED de l'ESP8266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visage avant le mot de passe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002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" y="1828800"/>
            <a:ext cx="548640" cy="54864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190195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61E48"/>
                </a:solidFill>
                <a:latin typeface="Montserrat"/>
              </a:rPr>
              <a:t>Identifiant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6032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61E48"/>
                </a:solidFill>
                <a:latin typeface="Montserrat"/>
              </a:rPr>
              <a:t>L'administrateur saisit son adresse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32004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A4470"/>
                </a:solidFill>
                <a:latin typeface="Montserrat"/>
              </a:rPr>
              <a:t>LED éteinte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51376" y="2606040"/>
            <a:ext cx="237744" cy="329184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81728" y="1828800"/>
            <a:ext cx="548640" cy="54864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90195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61E48"/>
                </a:solidFill>
                <a:latin typeface="Montserrat"/>
              </a:rPr>
              <a:t>Visage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56032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61E48"/>
                </a:solidFill>
                <a:latin typeface="Montserrat"/>
              </a:rPr>
              <a:t>La caméra USB du PC Hôte confirme l'identité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2004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Montserrat"/>
              </a:rPr>
              <a:t>reconnu : vert clignotant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B85450"/>
                </a:solidFill>
                <a:latin typeface="Montserrat"/>
              </a:rPr>
              <a:t>refusé : rouge fixe 30 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7536" y="2606040"/>
            <a:ext cx="237744" cy="329184"/>
          </a:xfrm>
          <a:prstGeom prst="rightArrow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73568" y="16002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47888" y="1828800"/>
            <a:ext cx="548640" cy="54864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90195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61E48"/>
                </a:solidFill>
                <a:latin typeface="Montserrat"/>
              </a:rPr>
              <a:t>Mot de passe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6032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61E48"/>
                </a:solidFill>
                <a:latin typeface="Montserrat"/>
              </a:rPr>
              <a:t>Saisi seulement si le visage est reconnu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2004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Montserrat"/>
              </a:rPr>
              <a:t>accepté : vert fixe 30 s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B85450"/>
                </a:solidFill>
                <a:latin typeface="Montserrat"/>
              </a:rPr>
              <a:t>refusé : rouge, 10 clignotements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206240"/>
            <a:ext cx="6675120" cy="1325880"/>
          </a:xfrm>
          <a:prstGeom prst="roundRect">
            <a:avLst>
              <a:gd name="adj" fmla="val 8000"/>
            </a:avLst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315968"/>
            <a:ext cx="6217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61E48"/>
                </a:solidFill>
                <a:latin typeface="Montserrat"/>
              </a:rPr>
              <a:t>Protections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261E48"/>
                </a:solidFill>
                <a:latin typeface="Montserrat"/>
              </a:rPr>
              <a:t>1 seul nouvel essai, puis identifiant bloqué 5 min (puis 10, 15…)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261E48"/>
                </a:solidFill>
                <a:latin typeface="Montserrat"/>
              </a:rPr>
              <a:t>Reconnaissance 100 % locale : seules des empreintes du visage sont gardées, jamais d'image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261E48"/>
                </a:solidFill>
                <a:latin typeface="Montserrat"/>
              </a:rPr>
              <a:t>Visages des membres enrôlés avec leur consentement (RGPD art. 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4206240"/>
            <a:ext cx="353872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4315968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5450"/>
                </a:solidFill>
                <a:latin typeface="Montserrat"/>
              </a:rPr>
              <a:t>Limite assumée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261E48"/>
                </a:solidFill>
                <a:latin typeface="Montserrat"/>
              </a:rPr>
              <a:t>Pas de détection du vivant : une photo pourrait passer. Le mot de passe reste donc exigé.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des essais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828800"/>
            <a:ext cx="2468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9848" y="2103120"/>
            <a:ext cx="20116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4800" dirty="0" b="1">
                <a:solidFill>
                  <a:srgbClr val="261E48"/>
                </a:solidFill>
                <a:latin typeface="Montserrat"/>
              </a:rPr>
              <a:t>≈ 30 s</a:t>
            </a:r>
            <a:r>
              <a:rPr lang="fr-FR" sz="4800" b="1" i="0" dirty="0">
                <a:solidFill>
                  <a:srgbClr val="261E48"/>
                </a:solidFill>
                <a:latin typeface="Montserrat"/>
              </a:rPr>
              <a:t/>
            </a:r>
            <a:r>
              <a:rPr sz="4800" b="1" i="0" dirty="0">
                <a:solidFill>
                  <a:srgbClr val="261E48"/>
                </a:solidFill>
                <a:latin typeface="Montserrat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31089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61E48"/>
                </a:solidFill>
                <a:latin typeface="Montserrat"/>
              </a:rPr>
              <a:t>détection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38404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4A4470"/>
                </a:solidFill>
                <a:latin typeface="Montserrat"/>
              </a:rPr>
              <a:t>de l'attaque à l'alerte : 3 fenêtres anormales, contre les faux positifs</a:t>
            </a:r>
            <a:r>
              <a:rPr sz="1300" b="0" i="0" dirty="0" err="1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 err="1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 err="1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828800"/>
            <a:ext cx="2468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2103120"/>
            <a:ext cx="20116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4800" dirty="0" b="1">
                <a:solidFill>
                  <a:srgbClr val="261E48"/>
                </a:solidFill>
                <a:latin typeface="Montserrat"/>
              </a:rPr>
              <a:t>~7</a:t>
            </a:r>
            <a:r>
              <a:rPr sz="4800" b="1" i="0" dirty="0">
                <a:solidFill>
                  <a:srgbClr val="261E48"/>
                </a:solidFill>
                <a:latin typeface="Montserrat"/>
              </a:rPr>
              <a:t>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1089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261E48"/>
                </a:solidFill>
                <a:latin typeface="Montserrat"/>
              </a:rPr>
              <a:t>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8404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4A4470"/>
                </a:solidFill>
                <a:latin typeface="Montserrat"/>
              </a:rPr>
              <a:t>de l'alerte à la transaction de test réussie</a:t>
            </a:r>
            <a:r>
              <a:rPr sz="1300" b="0" i="0" dirty="0" err="1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 err="1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 err="1">
                <a:solidFill>
                  <a:srgbClr val="4A4470"/>
                </a:solidFill>
                <a:latin typeface="Montserrat"/>
              </a:rPr>
              <a:t/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28800"/>
            <a:ext cx="2468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2103120"/>
            <a:ext cx="20116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4800" b="1" i="0" dirty="0">
                <a:solidFill>
                  <a:srgbClr val="261E48"/>
                </a:solidFill>
                <a:latin typeface="Montserrat"/>
              </a:rPr>
              <a:t>0</a:t>
            </a:r>
            <a:endParaRPr sz="4800" b="1" i="0" dirty="0">
              <a:solidFill>
                <a:srgbClr val="261E48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8232" y="31089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261E48"/>
                </a:solidFill>
                <a:latin typeface="Montserrat"/>
              </a:rPr>
              <a:t>transactions perdues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1828800"/>
            <a:ext cx="2468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07424" y="210312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261E48"/>
                </a:solidFill>
                <a:latin typeface="Montserrat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31089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61E48"/>
                </a:solidFill>
                <a:latin typeface="Montserrat"/>
              </a:rPr>
              <a:t>intervention humaine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38404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4470"/>
                </a:solidFill>
                <a:latin typeface="Montserrat"/>
              </a:rPr>
              <a:t>visé : aucune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212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 err="1">
                <a:solidFill>
                  <a:srgbClr val="4A4470"/>
                </a:solidFill>
                <a:latin typeface="Montserrat"/>
              </a:rPr>
              <a:t>Reprise totale ≈ 40 s, sous l'objectif de 60 s. Reprise mesurée par le tableau de bord du moteur (répétitions du 22/10) ; détection fixée par le réglage du modèle.</a:t>
            </a:r>
            <a:r>
              <a:rPr sz="1200" b="0" i="1" dirty="0">
                <a:solidFill>
                  <a:srgbClr val="4A4470"/>
                </a:solidFill>
                <a:latin typeface="Montserrat"/>
              </a:rPr>
              <a:t/>
            </a:r>
            <a:r>
              <a:rPr sz="1200" b="0" i="1" dirty="0" err="1">
                <a:solidFill>
                  <a:srgbClr val="4A4470"/>
                </a:solidFill>
                <a:latin typeface="Montserrat"/>
              </a:rPr>
              <a:t/>
            </a:r>
            <a:r>
              <a:rPr sz="1200" b="0" i="1" dirty="0">
                <a:solidFill>
                  <a:srgbClr val="4A4470"/>
                </a:solidFill>
                <a:latin typeface="Montserrat"/>
              </a:rPr>
              <a:t/>
            </a:r>
            <a:r>
              <a:rPr sz="1200" b="0" i="1" dirty="0" err="1">
                <a:solidFill>
                  <a:srgbClr val="4A4470"/>
                </a:solidFill>
                <a:latin typeface="Montserrat"/>
              </a:rPr>
              <a:t/>
            </a:r>
            <a:r>
              <a:rPr sz="1200" b="0" i="1" dirty="0">
                <a:solidFill>
                  <a:srgbClr val="4A4470"/>
                </a:solidFill>
                <a:latin typeface="Montserrat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Quand la défense devient le risque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3291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5568" y="1920240"/>
            <a:ext cx="640080" cy="640080"/>
          </a:xfrm>
          <a:prstGeom prst="ellipse">
            <a:avLst/>
          </a:prstGeom>
          <a:solidFill>
            <a:srgbClr val="26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R1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807" y="202996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61E48"/>
                </a:solidFill>
                <a:latin typeface="Montserrat"/>
              </a:rPr>
              <a:t>Déni de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74320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1E48"/>
                </a:solidFill>
                <a:latin typeface="Montserrat"/>
              </a:rPr>
              <a:t>Traité : reprise automatique vérifiée. Résiduel modéré, sous réserve du temps mesuré.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91640"/>
            <a:ext cx="3291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81728" y="1920240"/>
            <a:ext cx="640080" cy="640080"/>
          </a:xfrm>
          <a:prstGeom prst="ellipse">
            <a:avLst/>
          </a:prstGeom>
          <a:solidFill>
            <a:srgbClr val="B8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8968" y="202996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61E48"/>
                </a:solidFill>
                <a:latin typeface="Montserrat"/>
              </a:rPr>
              <a:t>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74320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1E48"/>
                </a:solidFill>
                <a:latin typeface="Montserrat"/>
              </a:rPr>
              <a:t>Élevé : une seule tentative, même bloquée par le WAF, déclenche une restauration qui efface les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691640"/>
            <a:ext cx="32918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47888" y="1920240"/>
            <a:ext cx="640080" cy="640080"/>
          </a:xfrm>
          <a:prstGeom prst="ellipse">
            <a:avLst/>
          </a:prstGeom>
          <a:solidFill>
            <a:srgbClr val="B8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128" y="202996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61E48"/>
                </a:solidFill>
                <a:latin typeface="Montserrat"/>
              </a:rPr>
              <a:t>Moteur détourné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74320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1E48"/>
                </a:solidFill>
                <a:latin typeface="Montserrat"/>
              </a:rPr>
              <a:t>Élevé : le dispositif de défense pilote Docker ; alertes signées et liste fermée d'actions, mais droits étendus.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526280"/>
            <a:ext cx="10424160" cy="914400"/>
          </a:xfrm>
          <a:prstGeom prst="roundRect">
            <a:avLst>
              <a:gd name="adj" fmla="val 8000"/>
            </a:avLst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61E48"/>
                </a:solidFill>
                <a:latin typeface="Montserrat"/>
              </a:rPr>
              <a:t>DORA s'applique, pas NIS2. </a:t>
            </a:r>
            <a:r>
              <a:rPr sz="1400" b="0" i="0">
                <a:solidFill>
                  <a:srgbClr val="261E48"/>
                </a:solidFill>
                <a:latin typeface="Montserrat"/>
              </a:rPr>
              <a:t>Une reprise en moins de 5 min reste sous les seuils d'incident majeur ; une perte de données le rend majeur, quelle que soit la vitesse de reprise.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 demandes à la direction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" y="1874520"/>
            <a:ext cx="548640" cy="54864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801368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261E48"/>
                </a:solidFill>
                <a:latin typeface="Montserrat"/>
              </a:rPr>
              <a:t>Valider la reprise </a:t>
            </a:r>
            <a:r>
              <a:rPr sz="1600" b="1" i="0" dirty="0" err="1">
                <a:solidFill>
                  <a:srgbClr val="261E48"/>
                </a:solidFill>
                <a:latin typeface="Montserrat"/>
              </a:rPr>
              <a:t>automatique</a:t>
            </a:r>
            <a:r>
              <a:rPr sz="1600" b="1" i="0" dirty="0">
                <a:solidFill>
                  <a:srgbClr val="261E48"/>
                </a:solidFill>
                <a:latin typeface="Montserrat"/>
              </a:rPr>
              <a:t> pour la </a:t>
            </a:r>
            <a:r>
              <a:rPr sz="1600" b="1" i="0" dirty="0" err="1">
                <a:solidFill>
                  <a:srgbClr val="261E48"/>
                </a:solidFill>
                <a:latin typeface="Montserrat"/>
              </a:rPr>
              <a:t>disponibilité</a:t>
            </a:r>
            <a:endParaRPr sz="1600" b="1" i="0" dirty="0">
              <a:solidFill>
                <a:srgbClr val="261E48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3080" y="2194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4470"/>
                </a:solidFill>
                <a:latin typeface="Montserrat"/>
              </a:rPr>
              <a:t>Preuve : temps de reprise mesuré, transaction de test réussie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74320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8" y="2926080"/>
            <a:ext cx="548640" cy="54864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852928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261E48"/>
                </a:solidFill>
                <a:latin typeface="Montserrat"/>
              </a:rPr>
              <a:t>Garder un </a:t>
            </a:r>
            <a:r>
              <a:rPr sz="1600" b="1" i="0" dirty="0" err="1">
                <a:solidFill>
                  <a:srgbClr val="261E48"/>
                </a:solidFill>
                <a:latin typeface="Montserrat"/>
              </a:rPr>
              <a:t>humain</a:t>
            </a:r>
            <a:r>
              <a:rPr sz="1600" b="1" i="0" dirty="0">
                <a:solidFill>
                  <a:srgbClr val="261E48"/>
                </a:solidFill>
                <a:latin typeface="Montserrat"/>
              </a:rPr>
              <a:t> pour </a:t>
            </a:r>
            <a:r>
              <a:rPr sz="1600" b="1" i="0" dirty="0" err="1">
                <a:solidFill>
                  <a:srgbClr val="261E48"/>
                </a:solidFill>
                <a:latin typeface="Montserrat"/>
              </a:rPr>
              <a:t>l'intégrité</a:t>
            </a:r>
            <a:endParaRPr sz="1600" b="1" i="0" dirty="0">
              <a:solidFill>
                <a:srgbClr val="261E48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3080" y="324612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4A4470"/>
                </a:solidFill>
                <a:latin typeface="Montserrat"/>
              </a:rPr>
              <a:t>Restaurer</a:t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> </a:t>
            </a:r>
            <a:r>
              <a:rPr sz="1300" b="0" i="0" dirty="0" err="1">
                <a:solidFill>
                  <a:srgbClr val="4A4470"/>
                </a:solidFill>
                <a:latin typeface="Montserrat"/>
              </a:rPr>
              <a:t>seulement</a:t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> </a:t>
            </a:r>
            <a:r>
              <a:rPr sz="1300" b="0" i="0" dirty="0" err="1">
                <a:solidFill>
                  <a:srgbClr val="4A4470"/>
                </a:solidFill>
                <a:latin typeface="Montserrat"/>
              </a:rPr>
              <a:t>si</a:t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> </a:t>
            </a:r>
            <a:r>
              <a:rPr sz="1300" b="0" i="0" dirty="0" err="1">
                <a:solidFill>
                  <a:srgbClr val="4A4470"/>
                </a:solidFill>
                <a:latin typeface="Montserrat"/>
              </a:rPr>
              <a:t>une</a:t>
            </a:r>
            <a:r>
              <a:rPr sz="1300" b="0" i="0" dirty="0">
                <a:solidFill>
                  <a:srgbClr val="4A4470"/>
                </a:solidFill>
                <a:latin typeface="Montserrat"/>
              </a:rPr>
              <a:t> injection a passé le WAF, après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79476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24128" y="3977640"/>
            <a:ext cx="548640" cy="548640"/>
          </a:xfrm>
          <a:prstGeom prst="ellipse">
            <a:avLst/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261E48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904488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261E48"/>
                </a:solidFill>
                <a:latin typeface="Montserrat"/>
              </a:rPr>
              <a:t>Financer un deuxième site et des </a:t>
            </a:r>
            <a:r>
              <a:rPr sz="1600" b="1" i="0" dirty="0" err="1">
                <a:solidFill>
                  <a:srgbClr val="261E48"/>
                </a:solidFill>
                <a:latin typeface="Montserrat"/>
              </a:rPr>
              <a:t>sauvegardes</a:t>
            </a:r>
            <a:endParaRPr sz="1600" b="1" i="0" dirty="0">
              <a:solidFill>
                <a:srgbClr val="261E48"/>
              </a:solidFill>
              <a:latin typeface="Montserra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83080" y="429768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A4470"/>
                </a:solidFill>
                <a:latin typeface="Montserrat"/>
              </a:rPr>
              <a:t>L'hôte unique est accepté pour le pilote, pas pour la 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691640"/>
            <a:ext cx="3401568" cy="3017520"/>
          </a:xfrm>
          <a:prstGeom prst="roundRect">
            <a:avLst>
              <a:gd name="adj" fmla="val 8000"/>
            </a:avLst>
          </a:prstGeom>
          <a:solidFill>
            <a:srgbClr val="A1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874519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61E48"/>
                </a:solidFill>
                <a:latin typeface="Montserrat"/>
              </a:rPr>
              <a:t>Ce qu'un prototype de 4 jours ne prouve pas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61E48"/>
                </a:solidFill>
                <a:latin typeface="Montserrat"/>
              </a:rPr>
              <a:t>Redondance et sauvegardes hors site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61E48"/>
                </a:solidFill>
                <a:latin typeface="Montserrat"/>
              </a:rPr>
              <a:t>Tests d'intrusion indépendants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61E48"/>
                </a:solidFill>
                <a:latin typeface="Montserrat"/>
              </a:rPr>
              <a:t>Contrats avec les prestataires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61E48"/>
                </a:solidFill>
                <a:latin typeface="Montserrat"/>
              </a:rPr>
              <a:t>Rôle réel de la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9834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4A4470"/>
                </a:solidFill>
                <a:latin typeface="Montserrat"/>
              </a:rPr>
              <a:t>Détail : dossier d'ingénierie et de gouvernance, et docs/gouvernance/ dans le dépôt.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Merci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Une plateforme qui détecte seule, se répare seule, et le prouve.</a:t>
            </a:r>
          </a:p>
          <a:p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nalisé 1">
      <a:majorFont>
        <a:latin typeface="Montserrat 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ELE_PPTX_2627_WORKSHOP_COACH.potx" id="{EF694608-99E1-4D09-9662-2A0800E7CE8F}" vid="{D08B27D8-ECAF-4804-8DB5-6603BDEEF1F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db4c2f-5dfe-4423-b7fa-968caa59f9fe" xsi:nil="true"/>
    <lcf76f155ced4ddcb4097134ff3c332f xmlns="94eab51b-fcae-4bce-a35e-bdc099b66db8">
      <Terms xmlns="http://schemas.microsoft.com/office/infopath/2007/PartnerControls"/>
    </lcf76f155ced4ddcb4097134ff3c332f>
    <SharedWithUsers xmlns="40db4c2f-5dfe-4423-b7fa-968caa59f9fe">
      <UserInfo>
        <DisplayName/>
        <AccountId xsi:nil="true"/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3F0084B24AA74087E0D5FB9F267B1F" ma:contentTypeVersion="16" ma:contentTypeDescription="Crée un document." ma:contentTypeScope="" ma:versionID="2ac75a28b3010b5a27d92b95b97488e5">
  <xsd:schema xmlns:xsd="http://www.w3.org/2001/XMLSchema" xmlns:xs="http://www.w3.org/2001/XMLSchema" xmlns:p="http://schemas.microsoft.com/office/2006/metadata/properties" xmlns:ns2="40db4c2f-5dfe-4423-b7fa-968caa59f9fe" xmlns:ns3="94eab51b-fcae-4bce-a35e-bdc099b66db8" targetNamespace="http://schemas.microsoft.com/office/2006/metadata/properties" ma:root="true" ma:fieldsID="d2a5da541a69ca39a5d72e2beeae0901" ns2:_="" ns3:_="">
    <xsd:import namespace="40db4c2f-5dfe-4423-b7fa-968caa59f9fe"/>
    <xsd:import namespace="94eab51b-fcae-4bce-a35e-bdc099b66db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db4c2f-5dfe-4423-b7fa-968caa59f9f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aaea374-6cc6-4ade-87c3-604972e7ecff}" ma:internalName="TaxCatchAll" ma:showField="CatchAllData" ma:web="40db4c2f-5dfe-4423-b7fa-968caa59f9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eab51b-fcae-4bce-a35e-bdc099b66d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73ec7504-3861-4c39-9b6d-002a7ae0a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C66B1F-ADA7-498F-9326-33CCE7A44AD1}">
  <ds:schemaRefs>
    <ds:schemaRef ds:uri="http://schemas.microsoft.com/office/2006/metadata/properties"/>
    <ds:schemaRef ds:uri="http://schemas.microsoft.com/office/infopath/2007/PartnerControls"/>
    <ds:schemaRef ds:uri="40db4c2f-5dfe-4423-b7fa-968caa59f9fe"/>
    <ds:schemaRef ds:uri="94eab51b-fcae-4bce-a35e-bdc099b66db8"/>
  </ds:schemaRefs>
</ds:datastoreItem>
</file>

<file path=customXml/itemProps2.xml><?xml version="1.0" encoding="utf-8"?>
<ds:datastoreItem xmlns:ds="http://schemas.openxmlformats.org/officeDocument/2006/customXml" ds:itemID="{00334F52-FB19-49F1-94B9-DE8F4775F4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db4c2f-5dfe-4423-b7fa-968caa59f9fe"/>
    <ds:schemaRef ds:uri="94eab51b-fcae-4bce-a35e-bdc099b66d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37D655-62B0-4CEB-91FB-A72FEBF8F1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MODELE_PPTX_2627_WORKSHOP_COACH 1</Template>
  <TotalTime>521</TotalTime>
  <Words>853</Words>
  <Application>Microsoft Macintosh PowerPoint</Application>
  <PresentationFormat>Grand écran</PresentationFormat>
  <Paragraphs>93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Aptos</vt:lpstr>
      <vt:lpstr>Arial</vt:lpstr>
      <vt:lpstr>Monsterra</vt:lpstr>
      <vt:lpstr>Montserrat</vt:lpstr>
      <vt:lpstr>Montserrat Bold</vt:lpstr>
      <vt:lpstr>Montserrat italic</vt:lpstr>
      <vt:lpstr>Thème Office</vt:lpstr>
      <vt:lpstr>PROJECT RESILIENCE-ALPHA</vt:lpstr>
      <vt:lpstr>Cinq piliers, une seule chaîne</vt:lpstr>
      <vt:lpstr>Un arrêt coûte peu, puis explose</vt:lpstr>
      <vt:lpstr>Détecter, réparer, prouver</vt:lpstr>
      <vt:lpstr>Démonstration</vt:lpstr>
      <vt:lpstr>Résultats des essais</vt:lpstr>
      <vt:lpstr>Quand la défense devient le risque</vt:lpstr>
      <vt:lpstr>Nos demandes à la direction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COMBLEZ</dc:creator>
  <cp:lastModifiedBy>SANCHEZ Cedric</cp:lastModifiedBy>
  <cp:revision>3</cp:revision>
  <dcterms:created xsi:type="dcterms:W3CDTF">2026-10-13T07:46:09Z</dcterms:created>
  <dcterms:modified xsi:type="dcterms:W3CDTF">2026-10-22T10:33:00Z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0x010100D13F0084B24AA74087E0D5FB9F267B1F</vt:lpwstr>
  </property>
  <property fmtid="{D5CDD505-2E9C-101B-9397-08002B2CF9AE}" pid="3" name="MediaServiceImageTags">
    <vt:lpwstr/>
  </property>
  <property fmtid="{D5CDD505-2E9C-101B-9397-08002B2CF9AE}" pid="4" name="Order">
    <vt:r8>142000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